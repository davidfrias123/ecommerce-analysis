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ZqAQASUGDy+sivhaE+CM9dfIR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Customer Gender Distribution: 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pie chart highlights the gender segmentation of the customer base. Understanding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demographic composition enables targeted marketing and product personalization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strategies.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Interaction Types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This visualization examines how customers interact with the platform through actions such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 views, likes, and purchases. It helps identify where users drop off in the engagement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funnel and which interactions dominate user behavior.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Gender &amp; Age: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analysis compares age groups and their purchasing activity. The results show that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customers aged 25–40 form the most active purchasing segment, which informs targeted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advertisement planning.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Payment Behaviour: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This visualization reveals how different genders prefer different payment modes. Digital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wallets and credit cards are more popular among certain demographic groups, guiding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checkout optimization strategies.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4" name="Google Shape;17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Category Conversion Rate (Purchases / Views):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metric measures how effectively product categories convert user interest (views) into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purchases. High conversion categories signal strong product-market fit or effective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merchandising.Footwear and Outerwear categories show the best conversion from views to purchases.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Average Order Value (AOV) by Payment Method: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AOV helps reveal customer spending patterns. Digital payment users tend to make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higher-value purchases, suggesting the importance of seamless online payment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infrastructure.Digital and bank-based payments correlate with higher spend per order.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Monthly Purchases for Top Categories: 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trendline captures seasonal and monthly purchase fluctuations. It helps forecast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demand, optimize stock levels, and plan marketing around high-performing months.Clothing shows stable demand, while Accessories and Outerwear have clear seasonal peaks, especially around promotional periods.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Confusion Matrix – Model Accuracy Assessment:</a:t>
            </a:r>
            <a:endParaRPr b="1"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visualization evaluates model performance in predicting purchase likelihood. High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diagonal values indicate good classification accuracy, validating the reliability of the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predictive model.The model distinguishes well between purchase and non-purchase classes, with relatively few misclassifications.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Predictive Model – Feature Importance:</a:t>
            </a:r>
            <a:endParaRPr b="1"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Random Forest model identifies the factors that contribute most to purchase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decisions. 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Age</a:t>
            </a:r>
            <a:r>
              <a:rPr lang="en-US">
                <a:solidFill>
                  <a:schemeClr val="dk1"/>
                </a:solidFill>
              </a:rPr>
              <a:t> is the most influential factor driving purchases, followed by </a:t>
            </a:r>
            <a:r>
              <a:rPr b="1" lang="en-US">
                <a:solidFill>
                  <a:schemeClr val="dk1"/>
                </a:solidFill>
              </a:rPr>
              <a:t>payment method</a:t>
            </a:r>
            <a:r>
              <a:rPr lang="en-US">
                <a:solidFill>
                  <a:schemeClr val="dk1"/>
                </a:solidFill>
              </a:rPr>
              <a:t> and </a:t>
            </a:r>
            <a:r>
              <a:rPr b="1" lang="en-US">
                <a:solidFill>
                  <a:schemeClr val="dk1"/>
                </a:solidFill>
              </a:rPr>
              <a:t>purchase frequency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Gender</a:t>
            </a:r>
            <a:r>
              <a:rPr lang="en-US">
                <a:solidFill>
                  <a:schemeClr val="dk1"/>
                </a:solidFill>
              </a:rPr>
              <a:t> has minimal impact on purchasing behavior.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This indicates that </a:t>
            </a:r>
            <a:r>
              <a:rPr b="1" lang="en-US">
                <a:solidFill>
                  <a:schemeClr val="dk1"/>
                </a:solidFill>
              </a:rPr>
              <a:t>demographics and payment convenience</a:t>
            </a:r>
            <a:r>
              <a:rPr lang="en-US">
                <a:solidFill>
                  <a:schemeClr val="dk1"/>
                </a:solidFill>
              </a:rPr>
              <a:t> play a bigger role than buying patterns alone.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1" name="Google Shape;2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Correlation Heatmap: 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heatmap explores the relationships between numerical features. It helps identify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multicollinearity and key behavioral correlations that influence purchases.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Purchase behaviour is moderately correlated with frequency of purchases and age.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4" name="Google Shape;2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This comprehensive analysis revealed strong behavioral patterns in consumer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demographics, payment preferences, and purchase activity. The predictive modeling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further identified engagement frequency as the strongest determinant of purchase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likelihood. These insights collectively guide data-driven decision-making for marketing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/>
              <a:t>optimization, inventory planning, and customer retention strategies.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dk1">
              <a:alpha val="5254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>
            <a:off x="0" y="2075420"/>
            <a:ext cx="9297047" cy="4440643"/>
            <a:chOff x="1" y="2075420"/>
            <a:chExt cx="12396066" cy="4440643"/>
          </a:xfrm>
        </p:grpSpPr>
        <p:sp>
          <p:nvSpPr>
            <p:cNvPr id="88" name="Google Shape;88;p1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17365D">
                    <a:alpha val="20000"/>
                  </a:srgbClr>
                </a:gs>
                <a:gs pos="100000">
                  <a:srgbClr val="0F243E">
                    <a:alpha val="941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17365D">
                    <a:alpha val="9411"/>
                  </a:srgbClr>
                </a:gs>
                <a:gs pos="100000">
                  <a:srgbClr val="17365D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 rot="-5400000">
            <a:off x="7479052" y="1131512"/>
            <a:ext cx="2796461" cy="533439"/>
          </a:xfrm>
          <a:prstGeom prst="rect">
            <a:avLst/>
          </a:prstGeom>
          <a:gradFill>
            <a:gsLst>
              <a:gs pos="0">
                <a:srgbClr val="8CB3E3">
                  <a:alpha val="0"/>
                </a:srgbClr>
              </a:gs>
              <a:gs pos="100000">
                <a:srgbClr val="17365D">
                  <a:alpha val="9411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96" name="Google Shape;96;p1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97" name="Google Shape;97;p1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98" name="Google Shape;98;p1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99" name="Google Shape;99;p1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00" name="Google Shape;100;p1"/>
          <p:cNvSpPr/>
          <p:nvPr/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>
            <a:gsLst>
              <a:gs pos="0">
                <a:srgbClr val="0F243E">
                  <a:alpha val="9411"/>
                </a:srgbClr>
              </a:gs>
              <a:gs pos="10000">
                <a:srgbClr val="0F243E">
                  <a:alpha val="9411"/>
                </a:srgbClr>
              </a:gs>
              <a:gs pos="100000">
                <a:srgbClr val="538CD5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1"/>
          <p:cNvGrpSpPr/>
          <p:nvPr/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102" name="Google Shape;102;p1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03" name="Google Shape;103;p1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04" name="Google Shape;104;p1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1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pic>
        <p:nvPicPr>
          <p:cNvPr descr="Financial graphs on a dark display" id="106" name="Google Shape;106;p1"/>
          <p:cNvPicPr preferRelativeResize="0"/>
          <p:nvPr/>
        </p:nvPicPr>
        <p:blipFill rotWithShape="1">
          <a:blip r:embed="rId3">
            <a:alphaModFix amt="25000"/>
          </a:blip>
          <a:srcRect b="-2" l="5607" r="11412" t="0"/>
          <a:stretch/>
        </p:blipFill>
        <p:spPr>
          <a:xfrm>
            <a:off x="604127" y="29548"/>
            <a:ext cx="7984208" cy="601384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"/>
          <p:cNvSpPr txBox="1"/>
          <p:nvPr>
            <p:ph type="ctrTitle"/>
          </p:nvPr>
        </p:nvSpPr>
        <p:spPr>
          <a:xfrm>
            <a:off x="1963629" y="630936"/>
            <a:ext cx="5486400" cy="27020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 sz="4200">
                <a:solidFill>
                  <a:schemeClr val="lt1"/>
                </a:solidFill>
              </a:rPr>
              <a:t>E-commerce Sales Analysis &amp; Predictive Modeling (2024 Dataset)</a:t>
            </a:r>
            <a:endParaRPr/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1963625" y="4421697"/>
            <a:ext cx="5486400" cy="16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>
                <a:solidFill>
                  <a:schemeClr val="lt1"/>
                </a:solidFill>
              </a:rPr>
              <a:t>Swathi Mulkundkar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5294"/>
                </a:srgbClr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 flipH="1" rot="10800000">
            <a:off x="6096642" y="0"/>
            <a:ext cx="3047358" cy="1576412"/>
          </a:xfrm>
          <a:prstGeom prst="rect">
            <a:avLst/>
          </a:prstGeom>
          <a:gradFill>
            <a:gsLst>
              <a:gs pos="0">
                <a:srgbClr val="244061">
                  <a:alpha val="67450"/>
                </a:srgbClr>
              </a:gs>
              <a:gs pos="19000">
                <a:srgbClr val="244061">
                  <a:alpha val="67450"/>
                </a:srgbClr>
              </a:gs>
              <a:gs pos="100000">
                <a:srgbClr val="4F81BD">
                  <a:alpha val="78431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3000">
                <a:srgbClr val="4F81BD">
                  <a:alpha val="0"/>
                </a:srgbClr>
              </a:gs>
              <a:gs pos="99000">
                <a:srgbClr val="000000">
                  <a:alpha val="73333"/>
                </a:srgbClr>
              </a:gs>
              <a:gs pos="100000">
                <a:srgbClr val="000000">
                  <a:alpha val="73333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Project Overview</a:t>
            </a:r>
            <a:endParaRPr/>
          </a:p>
        </p:txBody>
      </p:sp>
      <p:grpSp>
        <p:nvGrpSpPr>
          <p:cNvPr id="119" name="Google Shape;119;p2"/>
          <p:cNvGrpSpPr/>
          <p:nvPr/>
        </p:nvGrpSpPr>
        <p:grpSpPr>
          <a:xfrm>
            <a:off x="501577" y="2772468"/>
            <a:ext cx="8158800" cy="2873025"/>
            <a:chOff x="18535" y="659889"/>
            <a:chExt cx="8158800" cy="2873025"/>
          </a:xfrm>
        </p:grpSpPr>
        <p:sp>
          <p:nvSpPr>
            <p:cNvPr id="120" name="Google Shape;120;p2"/>
            <p:cNvSpPr/>
            <p:nvPr/>
          </p:nvSpPr>
          <p:spPr>
            <a:xfrm>
              <a:off x="18535" y="659889"/>
              <a:ext cx="1080124" cy="1080124"/>
            </a:xfrm>
            <a:prstGeom prst="ellipse">
              <a:avLst/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45361" y="886715"/>
              <a:ext cx="626472" cy="62647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330115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1330115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Objective: Analyze E-commerce data to identify customer behavior and product trends.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4319746" y="659889"/>
              <a:ext cx="1080124" cy="108012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4546573" y="886715"/>
              <a:ext cx="626472" cy="62647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5631327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5631327" y="659889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Tools: Python (Pandas, Matplotlib, Seaborn, Plotly). Jupyter Notebook, VS code and Github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8535" y="2452790"/>
              <a:ext cx="1080124" cy="10801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245361" y="2679617"/>
              <a:ext cx="626472" cy="62647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330115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1330115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Dataset: 3 linked CSVs – Sales, Customer, and Product data.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319746" y="2452790"/>
              <a:ext cx="1080124" cy="1080124"/>
            </a:xfrm>
            <a:prstGeom prst="ellipse">
              <a:avLst/>
            </a:prstGeom>
            <a:solidFill>
              <a:srgbClr val="49AC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546573" y="2679617"/>
              <a:ext cx="626472" cy="62647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631327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5631327" y="2452790"/>
              <a:ext cx="2546008" cy="10801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Outcome: Visual insights and predictive model to forecast purchases.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dk1">
              <a:alpha val="5254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3"/>
          <p:cNvGrpSpPr/>
          <p:nvPr/>
        </p:nvGrpSpPr>
        <p:grpSpPr>
          <a:xfrm>
            <a:off x="0" y="2075420"/>
            <a:ext cx="9297047" cy="4440643"/>
            <a:chOff x="1" y="2075420"/>
            <a:chExt cx="12396066" cy="4440643"/>
          </a:xfrm>
        </p:grpSpPr>
        <p:sp>
          <p:nvSpPr>
            <p:cNvPr id="144" name="Google Shape;144;p3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3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17365D">
                    <a:alpha val="20000"/>
                  </a:srgbClr>
                </a:gs>
                <a:gs pos="100000">
                  <a:srgbClr val="0F243E">
                    <a:alpha val="941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17365D">
                    <a:alpha val="9411"/>
                  </a:srgbClr>
                </a:gs>
                <a:gs pos="100000">
                  <a:srgbClr val="17365D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3"/>
          <p:cNvSpPr/>
          <p:nvPr/>
        </p:nvSpPr>
        <p:spPr>
          <a:xfrm rot="-5400000">
            <a:off x="7479052" y="1131512"/>
            <a:ext cx="2796461" cy="533439"/>
          </a:xfrm>
          <a:prstGeom prst="rect">
            <a:avLst/>
          </a:prstGeom>
          <a:gradFill>
            <a:gsLst>
              <a:gs pos="0">
                <a:srgbClr val="8CB3E3">
                  <a:alpha val="0"/>
                </a:srgbClr>
              </a:gs>
              <a:gs pos="100000">
                <a:srgbClr val="17365D">
                  <a:alpha val="9411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" name="Google Shape;151;p3"/>
          <p:cNvGrpSpPr/>
          <p:nvPr/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152" name="Google Shape;152;p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56" name="Google Shape;156;p3"/>
          <p:cNvSpPr/>
          <p:nvPr/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>
            <a:gsLst>
              <a:gs pos="0">
                <a:srgbClr val="0F243E">
                  <a:alpha val="9411"/>
                </a:srgbClr>
              </a:gs>
              <a:gs pos="10000">
                <a:srgbClr val="0F243E">
                  <a:alpha val="9411"/>
                </a:srgbClr>
              </a:gs>
              <a:gs pos="100000">
                <a:srgbClr val="538CD5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3"/>
          <p:cNvGrpSpPr/>
          <p:nvPr/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158" name="Google Shape;158;p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62" name="Google Shape;162;p3"/>
          <p:cNvSpPr txBox="1"/>
          <p:nvPr>
            <p:ph type="title"/>
          </p:nvPr>
        </p:nvSpPr>
        <p:spPr>
          <a:xfrm>
            <a:off x="473201" y="4018137"/>
            <a:ext cx="3803416" cy="2129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 sz="4200">
                <a:solidFill>
                  <a:schemeClr val="lt1"/>
                </a:solidFill>
              </a:rPr>
              <a:t>ETL Pipeline</a:t>
            </a:r>
            <a:endParaRPr/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9" y="1233866"/>
            <a:ext cx="8132299" cy="2033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3"/>
          <p:cNvGrpSpPr/>
          <p:nvPr/>
        </p:nvGrpSpPr>
        <p:grpSpPr>
          <a:xfrm rot="-5400000">
            <a:off x="317544" y="830625"/>
            <a:ext cx="304800" cy="322326"/>
            <a:chOff x="215328" y="-46937"/>
            <a:chExt cx="304800" cy="2773841"/>
          </a:xfrm>
        </p:grpSpPr>
        <p:cxnSp>
          <p:nvCxnSpPr>
            <p:cNvPr id="165" name="Google Shape;165;p3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3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3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3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69" name="Google Shape;169;p3"/>
          <p:cNvSpPr/>
          <p:nvPr/>
        </p:nvSpPr>
        <p:spPr>
          <a:xfrm rot="-9000000">
            <a:off x="7613133" y="4270841"/>
            <a:ext cx="1423414" cy="1897885"/>
          </a:xfrm>
          <a:prstGeom prst="ellipse">
            <a:avLst/>
          </a:prstGeom>
          <a:gradFill>
            <a:gsLst>
              <a:gs pos="0">
                <a:srgbClr val="17365D">
                  <a:alpha val="9411"/>
                </a:srgbClr>
              </a:gs>
              <a:gs pos="100000">
                <a:srgbClr val="538CD5">
                  <a:alpha val="941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 txBox="1"/>
          <p:nvPr>
            <p:ph idx="1" type="body"/>
          </p:nvPr>
        </p:nvSpPr>
        <p:spPr>
          <a:xfrm>
            <a:off x="4443978" y="4018143"/>
            <a:ext cx="4161833" cy="2129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>
                <a:solidFill>
                  <a:schemeClr val="lt1"/>
                </a:solidFill>
              </a:rPr>
              <a:t>Steps: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Extract – Loaded CSV files from Kaggle.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Transform – Cleaned, handled missing values, merged data.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Load – Saved a unified DataFrame for analysis.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/>
          <p:nvPr/>
        </p:nvSpPr>
        <p:spPr>
          <a:xfrm>
            <a:off x="237100" y="-930225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 flipH="1" rot="5400000">
            <a:off x="-1914813" y="1914812"/>
            <a:ext cx="68580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366092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 flipH="1" rot="5400000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F81BD">
                  <a:alpha val="45490"/>
                </a:srgbClr>
              </a:gs>
              <a:gs pos="100000">
                <a:srgbClr val="4F81BD">
                  <a:alpha val="45490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 flipH="1" rot="5400000">
            <a:off x="263195" y="4092815"/>
            <a:ext cx="2501979" cy="3028381"/>
          </a:xfrm>
          <a:prstGeom prst="rect">
            <a:avLst/>
          </a:prstGeom>
          <a:gradFill>
            <a:gsLst>
              <a:gs pos="0">
                <a:srgbClr val="4F81BD">
                  <a:alpha val="28235"/>
                </a:srgbClr>
              </a:gs>
              <a:gs pos="2000">
                <a:srgbClr val="4F81BD">
                  <a:alpha val="28235"/>
                </a:srgbClr>
              </a:gs>
              <a:gs pos="100000">
                <a:srgbClr val="000000">
                  <a:alpha val="29411"/>
                </a:srgbClr>
              </a:gs>
            </a:gsLst>
            <a:lin ang="7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 flipH="1" rot="5400000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93B3D7">
                  <a:alpha val="10588"/>
                </a:srgbClr>
              </a:gs>
              <a:gs pos="100000">
                <a:srgbClr val="93B3D7">
                  <a:alpha val="10588"/>
                </a:srgbClr>
              </a:gs>
            </a:gsLst>
            <a:lin ang="7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 rot="-964587">
            <a:off x="-376302" y="969718"/>
            <a:ext cx="2925267" cy="4178958"/>
          </a:xfrm>
          <a:custGeom>
            <a:rect b="b" l="l" r="r" t="t"/>
            <a:pathLst>
              <a:path extrusionOk="0" h="4178958" w="3900357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4F81BD">
                  <a:alpha val="42352"/>
                </a:srgbClr>
              </a:gs>
            </a:gsLst>
            <a:lin ang="1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>
            <p:ph type="title"/>
          </p:nvPr>
        </p:nvSpPr>
        <p:spPr>
          <a:xfrm>
            <a:off x="373607" y="456345"/>
            <a:ext cx="2384947" cy="1159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Customer Insights</a:t>
            </a:r>
            <a:endParaRPr/>
          </a:p>
        </p:txBody>
      </p:sp>
      <p:pic>
        <p:nvPicPr>
          <p:cNvPr id="183" name="Google Shape;1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7775" y="1117600"/>
            <a:ext cx="3116075" cy="17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4"/>
          <p:cNvPicPr preferRelativeResize="0"/>
          <p:nvPr/>
        </p:nvPicPr>
        <p:blipFill rotWithShape="1">
          <a:blip r:embed="rId4">
            <a:alphaModFix/>
          </a:blip>
          <a:srcRect b="3" l="5119" r="30432" t="0"/>
          <a:stretch/>
        </p:blipFill>
        <p:spPr>
          <a:xfrm>
            <a:off x="3618593" y="4795521"/>
            <a:ext cx="4448446" cy="1387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4"/>
          <p:cNvPicPr preferRelativeResize="0"/>
          <p:nvPr/>
        </p:nvPicPr>
        <p:blipFill rotWithShape="1">
          <a:blip r:embed="rId5">
            <a:alphaModFix/>
          </a:blip>
          <a:srcRect b="2" l="14671" r="21981" t="0"/>
          <a:stretch/>
        </p:blipFill>
        <p:spPr>
          <a:xfrm>
            <a:off x="3483275" y="3153743"/>
            <a:ext cx="4583787" cy="140232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 txBox="1"/>
          <p:nvPr>
            <p:ph idx="1" type="body"/>
          </p:nvPr>
        </p:nvSpPr>
        <p:spPr>
          <a:xfrm>
            <a:off x="82149" y="2031290"/>
            <a:ext cx="2676405" cy="45015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n-US" sz="1700">
                <a:solidFill>
                  <a:schemeClr val="lt1"/>
                </a:solidFill>
              </a:rPr>
              <a:t>Key Findings: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n-US" sz="1700">
                <a:solidFill>
                  <a:schemeClr val="lt1"/>
                </a:solidFill>
              </a:rPr>
              <a:t>• Gender Distribution: Majority of users are male.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n-US" sz="1700">
                <a:solidFill>
                  <a:schemeClr val="lt1"/>
                </a:solidFill>
              </a:rPr>
              <a:t>• Age Group 25–40 makes the most purchases.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lt1"/>
              </a:buClr>
              <a:buSzPts val="1700"/>
              <a:buChar char="•"/>
            </a:pPr>
            <a:r>
              <a:rPr lang="en-US" sz="1700">
                <a:solidFill>
                  <a:schemeClr val="lt1"/>
                </a:solidFill>
              </a:rPr>
              <a:t>• Preferred Payments: PayPal &amp; Credit Card.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  <p:pic>
        <p:nvPicPr>
          <p:cNvPr id="187" name="Google Shape;187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6125" y="1000775"/>
            <a:ext cx="3116075" cy="242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dk1">
              <a:alpha val="5254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p5"/>
          <p:cNvGrpSpPr/>
          <p:nvPr/>
        </p:nvGrpSpPr>
        <p:grpSpPr>
          <a:xfrm>
            <a:off x="0" y="2075420"/>
            <a:ext cx="9297047" cy="4440643"/>
            <a:chOff x="1" y="2075420"/>
            <a:chExt cx="12396066" cy="4440643"/>
          </a:xfrm>
        </p:grpSpPr>
        <p:sp>
          <p:nvSpPr>
            <p:cNvPr id="196" name="Google Shape;196;p5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5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5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17365D">
                    <a:alpha val="20000"/>
                  </a:srgbClr>
                </a:gs>
                <a:gs pos="100000">
                  <a:srgbClr val="0F243E">
                    <a:alpha val="941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17365D">
                    <a:alpha val="9411"/>
                  </a:srgbClr>
                </a:gs>
                <a:gs pos="100000">
                  <a:srgbClr val="17365D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5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5"/>
          <p:cNvSpPr txBox="1"/>
          <p:nvPr>
            <p:ph type="title"/>
          </p:nvPr>
        </p:nvSpPr>
        <p:spPr>
          <a:xfrm>
            <a:off x="473202" y="630935"/>
            <a:ext cx="4400787" cy="305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 sz="4200">
                <a:solidFill>
                  <a:schemeClr val="lt1"/>
                </a:solidFill>
              </a:rPr>
              <a:t>Product Insights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 rot="-5400000">
            <a:off x="7479052" y="1131512"/>
            <a:ext cx="2796461" cy="533439"/>
          </a:xfrm>
          <a:prstGeom prst="rect">
            <a:avLst/>
          </a:prstGeom>
          <a:gradFill>
            <a:gsLst>
              <a:gs pos="0">
                <a:srgbClr val="8CB3E3">
                  <a:alpha val="0"/>
                </a:srgbClr>
              </a:gs>
              <a:gs pos="100000">
                <a:srgbClr val="17365D">
                  <a:alpha val="9411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5"/>
          <p:cNvGrpSpPr/>
          <p:nvPr/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05" name="Google Shape;205;p5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5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5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5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pic>
        <p:nvPicPr>
          <p:cNvPr id="209" name="Google Shape;2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" y="437204"/>
            <a:ext cx="3489931" cy="2044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5"/>
          <p:cNvGrpSpPr/>
          <p:nvPr/>
        </p:nvGrpSpPr>
        <p:grpSpPr>
          <a:xfrm rot="-5400000">
            <a:off x="5901581" y="189432"/>
            <a:ext cx="304800" cy="322326"/>
            <a:chOff x="215328" y="-46937"/>
            <a:chExt cx="304800" cy="2773841"/>
          </a:xfrm>
        </p:grpSpPr>
        <p:cxnSp>
          <p:nvCxnSpPr>
            <p:cNvPr id="211" name="Google Shape;211;p5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5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13" name="Google Shape;213;p5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14" name="Google Shape;214;p5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pic>
        <p:nvPicPr>
          <p:cNvPr id="215" name="Google Shape;2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4048" y="565213"/>
            <a:ext cx="3904849" cy="195697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5"/>
          <p:cNvSpPr/>
          <p:nvPr/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>
            <a:gsLst>
              <a:gs pos="0">
                <a:srgbClr val="0F243E">
                  <a:alpha val="9411"/>
                </a:srgbClr>
              </a:gs>
              <a:gs pos="10000">
                <a:srgbClr val="0F243E">
                  <a:alpha val="9411"/>
                </a:srgbClr>
              </a:gs>
              <a:gs pos="100000">
                <a:srgbClr val="538CD5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7" name="Google Shape;217;p5"/>
          <p:cNvGrpSpPr/>
          <p:nvPr/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218" name="Google Shape;218;p5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19" name="Google Shape;219;p5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5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5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22" name="Google Shape;222;p5"/>
          <p:cNvSpPr txBox="1"/>
          <p:nvPr>
            <p:ph idx="1" type="body"/>
          </p:nvPr>
        </p:nvSpPr>
        <p:spPr>
          <a:xfrm>
            <a:off x="473202" y="3952890"/>
            <a:ext cx="4400790" cy="2305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Top 10 Categories Rate(purchases/views)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Average Order Value by payment method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Consistent monthly trends observed in 2023–2024.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Seasonal peaks during October–December.</a:t>
            </a:r>
            <a:endParaRPr/>
          </a:p>
          <a:p>
            <a:pPr indent="-2413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223" name="Google Shape;2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8337" y="2905971"/>
            <a:ext cx="3656606" cy="2203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dk1">
              <a:alpha val="5254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" name="Google Shape;231;p6"/>
          <p:cNvGrpSpPr/>
          <p:nvPr/>
        </p:nvGrpSpPr>
        <p:grpSpPr>
          <a:xfrm>
            <a:off x="0" y="2075420"/>
            <a:ext cx="9297047" cy="4440643"/>
            <a:chOff x="1" y="2075420"/>
            <a:chExt cx="12396066" cy="4440643"/>
          </a:xfrm>
        </p:grpSpPr>
        <p:sp>
          <p:nvSpPr>
            <p:cNvPr id="232" name="Google Shape;232;p6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17365D">
                    <a:alpha val="20000"/>
                  </a:srgbClr>
                </a:gs>
                <a:gs pos="100000">
                  <a:srgbClr val="0F243E">
                    <a:alpha val="941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17365D">
                    <a:alpha val="9411"/>
                  </a:srgbClr>
                </a:gs>
                <a:gs pos="100000">
                  <a:srgbClr val="17365D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6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6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p6"/>
          <p:cNvSpPr txBox="1"/>
          <p:nvPr>
            <p:ph type="title"/>
          </p:nvPr>
        </p:nvSpPr>
        <p:spPr>
          <a:xfrm>
            <a:off x="473202" y="630936"/>
            <a:ext cx="4172309" cy="263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 sz="4200">
                <a:solidFill>
                  <a:schemeClr val="lt1"/>
                </a:solidFill>
              </a:rPr>
              <a:t>Predictive Modeling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 rot="-5400000">
            <a:off x="7479052" y="1131512"/>
            <a:ext cx="2796461" cy="533439"/>
          </a:xfrm>
          <a:prstGeom prst="rect">
            <a:avLst/>
          </a:prstGeom>
          <a:gradFill>
            <a:gsLst>
              <a:gs pos="0">
                <a:srgbClr val="8CB3E3">
                  <a:alpha val="0"/>
                </a:srgbClr>
              </a:gs>
              <a:gs pos="100000">
                <a:srgbClr val="17365D">
                  <a:alpha val="9411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p6"/>
          <p:cNvGrpSpPr/>
          <p:nvPr/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41" name="Google Shape;241;p6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6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6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6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45" name="Google Shape;245;p6"/>
          <p:cNvSpPr/>
          <p:nvPr/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>
            <a:gsLst>
              <a:gs pos="0">
                <a:srgbClr val="0F243E">
                  <a:alpha val="9411"/>
                </a:srgbClr>
              </a:gs>
              <a:gs pos="10000">
                <a:srgbClr val="0F243E">
                  <a:alpha val="9411"/>
                </a:srgbClr>
              </a:gs>
              <a:gs pos="100000">
                <a:srgbClr val="538CD5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" name="Google Shape;246;p6"/>
          <p:cNvGrpSpPr/>
          <p:nvPr/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247" name="Google Shape;247;p6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6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6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0" name="Google Shape;250;p6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51" name="Google Shape;251;p6"/>
          <p:cNvSpPr txBox="1"/>
          <p:nvPr>
            <p:ph idx="1" type="body"/>
          </p:nvPr>
        </p:nvSpPr>
        <p:spPr>
          <a:xfrm>
            <a:off x="473202" y="3429000"/>
            <a:ext cx="4172312" cy="1790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Model: Random Forest Classifier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Features: Age, Gender, Payment Method, Frequency of Purchases.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Target: Purchase likelihood.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</a:pPr>
            <a:r>
              <a:rPr lang="en-US" sz="1600">
                <a:solidFill>
                  <a:schemeClr val="lt1"/>
                </a:solidFill>
              </a:rPr>
              <a:t>• Accuracy: ~65%</a:t>
            </a:r>
            <a:endParaRPr/>
          </a:p>
          <a:p>
            <a:pPr indent="-2413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252" name="Google Shape;252;p6"/>
          <p:cNvGrpSpPr/>
          <p:nvPr/>
        </p:nvGrpSpPr>
        <p:grpSpPr>
          <a:xfrm rot="-5400000">
            <a:off x="5302357" y="851510"/>
            <a:ext cx="304800" cy="322326"/>
            <a:chOff x="215328" y="-46937"/>
            <a:chExt cx="304800" cy="2773841"/>
          </a:xfrm>
        </p:grpSpPr>
        <p:cxnSp>
          <p:nvCxnSpPr>
            <p:cNvPr id="253" name="Google Shape;253;p6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6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6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6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pic>
        <p:nvPicPr>
          <p:cNvPr id="257" name="Google Shape;25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5525" y="833425"/>
            <a:ext cx="4172299" cy="39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dk1">
              <a:alpha val="5254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5" name="Google Shape;265;p7"/>
          <p:cNvGrpSpPr/>
          <p:nvPr/>
        </p:nvGrpSpPr>
        <p:grpSpPr>
          <a:xfrm>
            <a:off x="0" y="2075420"/>
            <a:ext cx="9297047" cy="4440643"/>
            <a:chOff x="1" y="2075420"/>
            <a:chExt cx="12396066" cy="4440643"/>
          </a:xfrm>
        </p:grpSpPr>
        <p:sp>
          <p:nvSpPr>
            <p:cNvPr id="266" name="Google Shape;266;p7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17365D">
                    <a:alpha val="20000"/>
                  </a:srgbClr>
                </a:gs>
                <a:gs pos="100000">
                  <a:srgbClr val="0F243E">
                    <a:alpha val="941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17365D">
                    <a:alpha val="9411"/>
                  </a:srgbClr>
                </a:gs>
                <a:gs pos="100000">
                  <a:srgbClr val="17365D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7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538CD5">
                  <a:alpha val="9411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7"/>
          <p:cNvSpPr/>
          <p:nvPr/>
        </p:nvSpPr>
        <p:spPr>
          <a:xfrm rot="-5400000">
            <a:off x="7479052" y="1131512"/>
            <a:ext cx="2796461" cy="533439"/>
          </a:xfrm>
          <a:prstGeom prst="rect">
            <a:avLst/>
          </a:prstGeom>
          <a:gradFill>
            <a:gsLst>
              <a:gs pos="0">
                <a:srgbClr val="8CB3E3">
                  <a:alpha val="0"/>
                </a:srgbClr>
              </a:gs>
              <a:gs pos="100000">
                <a:srgbClr val="17365D">
                  <a:alpha val="9411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" name="Google Shape;273;p7"/>
          <p:cNvGrpSpPr/>
          <p:nvPr/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74" name="Google Shape;274;p7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7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76" name="Google Shape;276;p7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7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pic>
        <p:nvPicPr>
          <p:cNvPr id="278" name="Google Shape;278;p7"/>
          <p:cNvPicPr preferRelativeResize="0"/>
          <p:nvPr/>
        </p:nvPicPr>
        <p:blipFill rotWithShape="1">
          <a:blip r:embed="rId3">
            <a:alphaModFix/>
          </a:blip>
          <a:srcRect b="0" l="0" r="10113" t="0"/>
          <a:stretch/>
        </p:blipFill>
        <p:spPr>
          <a:xfrm>
            <a:off x="469942" y="317578"/>
            <a:ext cx="8138333" cy="3508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7"/>
          <p:cNvGrpSpPr/>
          <p:nvPr/>
        </p:nvGrpSpPr>
        <p:grpSpPr>
          <a:xfrm rot="-54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280" name="Google Shape;280;p7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1" name="Google Shape;281;p7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2" name="Google Shape;282;p7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3" name="Google Shape;283;p7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F4F3EC">
                  <a:alpha val="49411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84" name="Google Shape;284;p7"/>
          <p:cNvSpPr/>
          <p:nvPr/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>
            <a:gsLst>
              <a:gs pos="0">
                <a:srgbClr val="0F243E">
                  <a:alpha val="9411"/>
                </a:srgbClr>
              </a:gs>
              <a:gs pos="10000">
                <a:srgbClr val="0F243E">
                  <a:alpha val="9411"/>
                </a:srgbClr>
              </a:gs>
              <a:gs pos="100000">
                <a:srgbClr val="538CD5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" name="Google Shape;285;p7"/>
          <p:cNvGrpSpPr/>
          <p:nvPr/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286" name="Google Shape;286;p7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7" name="Google Shape;287;p7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8" name="Google Shape;288;p7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289" name="Google Shape;289;p7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538CD5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290" name="Google Shape;290;p7"/>
          <p:cNvSpPr txBox="1"/>
          <p:nvPr>
            <p:ph type="title"/>
          </p:nvPr>
        </p:nvSpPr>
        <p:spPr>
          <a:xfrm>
            <a:off x="473202" y="4018137"/>
            <a:ext cx="3426795" cy="2129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US" sz="4200">
                <a:solidFill>
                  <a:schemeClr val="lt1"/>
                </a:solidFill>
              </a:rPr>
              <a:t>Feature Importance</a:t>
            </a:r>
            <a:endParaRPr/>
          </a:p>
        </p:txBody>
      </p:sp>
      <p:sp>
        <p:nvSpPr>
          <p:cNvPr id="291" name="Google Shape;291;p7"/>
          <p:cNvSpPr txBox="1"/>
          <p:nvPr>
            <p:ph idx="1" type="body"/>
          </p:nvPr>
        </p:nvSpPr>
        <p:spPr>
          <a:xfrm>
            <a:off x="4114560" y="4018144"/>
            <a:ext cx="4255578" cy="1662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1500">
                <a:solidFill>
                  <a:schemeClr val="lt1"/>
                </a:solidFill>
              </a:rPr>
              <a:t>Top Predictors: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1500">
                <a:solidFill>
                  <a:schemeClr val="lt1"/>
                </a:solidFill>
              </a:rPr>
              <a:t>1. 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1500">
                <a:solidFill>
                  <a:schemeClr val="lt1"/>
                </a:solidFill>
              </a:rPr>
              <a:t>2. </a:t>
            </a:r>
            <a:r>
              <a:rPr lang="en-US" sz="1500">
                <a:solidFill>
                  <a:schemeClr val="lt1"/>
                </a:solidFill>
              </a:rPr>
              <a:t>Frequency</a:t>
            </a:r>
            <a:r>
              <a:rPr lang="en-US" sz="1500">
                <a:solidFill>
                  <a:schemeClr val="lt1"/>
                </a:solidFill>
              </a:rPr>
              <a:t> of purchases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1500">
                <a:solidFill>
                  <a:schemeClr val="lt1"/>
                </a:solidFill>
              </a:rPr>
              <a:t>3. </a:t>
            </a:r>
            <a:r>
              <a:rPr lang="en-US" sz="1500">
                <a:solidFill>
                  <a:schemeClr val="lt1"/>
                </a:solidFill>
              </a:rPr>
              <a:t>Payment Method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1500">
                <a:solidFill>
                  <a:schemeClr val="lt1"/>
                </a:solidFill>
              </a:rPr>
              <a:t>4. Gender</a:t>
            </a:r>
            <a:endParaRPr/>
          </a:p>
          <a:p>
            <a:pPr indent="-247650" lvl="0" marL="3429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100000">
                <a:srgbClr val="244061"/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rgbClr val="244061"/>
              </a:gs>
              <a:gs pos="100000">
                <a:srgbClr val="4F81BD">
                  <a:alpha val="0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244061">
                  <a:alpha val="54509"/>
                </a:srgbClr>
              </a:gs>
              <a:gs pos="100000">
                <a:srgbClr val="244061">
                  <a:alpha val="54509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 txBox="1"/>
          <p:nvPr>
            <p:ph type="title"/>
          </p:nvPr>
        </p:nvSpPr>
        <p:spPr>
          <a:xfrm>
            <a:off x="1028699" y="5510253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>
                <a:solidFill>
                  <a:srgbClr val="FFFFFF"/>
                </a:solidFill>
              </a:rPr>
              <a:t>Correlation heatmap – Customer Behavior</a:t>
            </a:r>
            <a:endParaRPr/>
          </a:p>
        </p:txBody>
      </p:sp>
      <p:pic>
        <p:nvPicPr>
          <p:cNvPr id="302" name="Google Shape;30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12460"/>
            <a:ext cx="9144001" cy="343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 flipH="1">
            <a:off x="0" y="0"/>
            <a:ext cx="9144000" cy="9612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 flipH="1" rot="10800000">
            <a:off x="-43850" y="175"/>
            <a:ext cx="9159600" cy="961200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344500" y="0"/>
            <a:ext cx="8799600" cy="1008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372"/>
                </a:srgbClr>
              </a:gs>
              <a:gs pos="100000">
                <a:srgbClr val="244061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>
            <p:ph type="title"/>
          </p:nvPr>
        </p:nvSpPr>
        <p:spPr>
          <a:xfrm>
            <a:off x="861000" y="108147"/>
            <a:ext cx="74220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Insights &amp; Recommendations</a:t>
            </a:r>
            <a:endParaRPr/>
          </a:p>
        </p:txBody>
      </p:sp>
      <p:sp>
        <p:nvSpPr>
          <p:cNvPr id="313" name="Google Shape;313;p9"/>
          <p:cNvSpPr txBox="1"/>
          <p:nvPr>
            <p:ph idx="1" type="body"/>
          </p:nvPr>
        </p:nvSpPr>
        <p:spPr>
          <a:xfrm>
            <a:off x="97075" y="1070775"/>
            <a:ext cx="4227600" cy="55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Insights </a:t>
            </a:r>
            <a:endParaRPr b="1" sz="18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Footwear &amp; Outerwear show the </a:t>
            </a:r>
            <a:r>
              <a:rPr b="1" lang="en-US" sz="1200"/>
              <a:t>highest conversion rates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Accessories have </a:t>
            </a:r>
            <a:r>
              <a:rPr b="1" lang="en-US" sz="1200"/>
              <a:t>high views but low conversions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Debit Card &amp; Bank Transfer users have the </a:t>
            </a:r>
            <a:r>
              <a:rPr b="1" lang="en-US" sz="1200"/>
              <a:t>highest AOV</a:t>
            </a:r>
            <a:r>
              <a:rPr lang="en-US" sz="1200"/>
              <a:t>; Cash &amp; Venmo the lowest.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Clothing demand remains </a:t>
            </a:r>
            <a:r>
              <a:rPr b="1" lang="en-US" sz="1200"/>
              <a:t>steady year-round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Accessories &amp; Outerwear show </a:t>
            </a:r>
            <a:r>
              <a:rPr b="1" lang="en-US" sz="1200"/>
              <a:t>seasonal purchase peaks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Customers aged </a:t>
            </a:r>
            <a:r>
              <a:rPr b="1" lang="en-US" sz="1200"/>
              <a:t>25–40</a:t>
            </a:r>
            <a:r>
              <a:rPr lang="en-US" sz="1200"/>
              <a:t> form the </a:t>
            </a:r>
            <a:r>
              <a:rPr b="1" lang="en-US" sz="1200"/>
              <a:t>highest purchasing segment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/>
              <a:t>PayPal &amp; Credit Card</a:t>
            </a:r>
            <a:r>
              <a:rPr lang="en-US" sz="1200"/>
              <a:t> users have </a:t>
            </a:r>
            <a:r>
              <a:rPr b="1" lang="en-US" sz="1200"/>
              <a:t>higher purchase rates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Certain categories contribute </a:t>
            </a:r>
            <a:r>
              <a:rPr b="1" lang="en-US" sz="1200"/>
              <a:t>disproportionately to total revenue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Predictive modeling shows </a:t>
            </a:r>
            <a:r>
              <a:rPr b="1" lang="en-US" sz="1200"/>
              <a:t>engagement frequency</a:t>
            </a:r>
            <a:r>
              <a:rPr lang="en-US" sz="1200"/>
              <a:t> is the strongest purchase predictor.</a:t>
            </a:r>
            <a:endParaRPr sz="1200"/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 txBox="1"/>
          <p:nvPr>
            <p:ph idx="1" type="body"/>
          </p:nvPr>
        </p:nvSpPr>
        <p:spPr>
          <a:xfrm>
            <a:off x="4810000" y="1274525"/>
            <a:ext cx="4334100" cy="51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-US" sz="1800"/>
              <a:t>Recommendations </a:t>
            </a:r>
            <a:endParaRPr b="1" sz="18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Prioritise </a:t>
            </a:r>
            <a:r>
              <a:rPr b="1" lang="en-US" sz="1200"/>
              <a:t>Footwear &amp; Outerwear</a:t>
            </a:r>
            <a:r>
              <a:rPr lang="en-US" sz="1200"/>
              <a:t> in targeted marketing campaigns.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Enhance </a:t>
            </a:r>
            <a:r>
              <a:rPr b="1" lang="en-US" sz="1200"/>
              <a:t>Accessories</a:t>
            </a:r>
            <a:r>
              <a:rPr lang="en-US" sz="1200"/>
              <a:t> listings (visuals, price competitiveness, bundles).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Promote </a:t>
            </a:r>
            <a:r>
              <a:rPr b="1" lang="en-US" sz="1200"/>
              <a:t>digital payment methods</a:t>
            </a:r>
            <a:r>
              <a:rPr lang="en-US" sz="1200"/>
              <a:t> with loyalty points or small cashback.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Use </a:t>
            </a:r>
            <a:r>
              <a:rPr b="1" lang="en-US" sz="1200"/>
              <a:t>upsell/cross-sell</a:t>
            </a:r>
            <a:r>
              <a:rPr lang="en-US" sz="1200"/>
              <a:t> strategies for low-AOV customers (Cash &amp; Venmo).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Align marketing with </a:t>
            </a:r>
            <a:r>
              <a:rPr b="1" lang="en-US" sz="1200"/>
              <a:t>seasonal demand peaks</a:t>
            </a:r>
            <a:r>
              <a:rPr lang="en-US" sz="1200"/>
              <a:t> (Accessories, Outerwear).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Target customers aged </a:t>
            </a:r>
            <a:r>
              <a:rPr b="1" lang="en-US" sz="1200"/>
              <a:t>25–40</a:t>
            </a:r>
            <a:r>
              <a:rPr lang="en-US" sz="1200"/>
              <a:t> with personalised offers.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Push popular high-revenue categories through retargeting ads.</a:t>
            </a:r>
            <a:br>
              <a:rPr lang="en-US" sz="1200"/>
            </a:br>
            <a:r>
              <a:rPr lang="en-US" sz="1200"/>
              <a:t>Strengthen loyalty programs to reward </a:t>
            </a:r>
            <a:r>
              <a:rPr b="1" lang="en-US" sz="1200"/>
              <a:t>digital payment</a:t>
            </a:r>
            <a:r>
              <a:rPr lang="en-US" sz="1200"/>
              <a:t> and </a:t>
            </a:r>
            <a:r>
              <a:rPr b="1" lang="en-US" sz="1200"/>
              <a:t>frequent buyers</a:t>
            </a:r>
            <a:r>
              <a:rPr lang="en-US" sz="1200"/>
              <a:t>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Re-engage high-frequency users early — they are most likely to convert again.</a:t>
            </a:r>
            <a:endParaRPr sz="1200"/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372"/>
                </a:srgbClr>
              </a:gs>
              <a:gs pos="100000">
                <a:srgbClr val="244061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 txBox="1"/>
          <p:nvPr>
            <p:ph type="title"/>
          </p:nvPr>
        </p:nvSpPr>
        <p:spPr>
          <a:xfrm>
            <a:off x="860999" y="203501"/>
            <a:ext cx="7422000" cy="1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Agile Project Summary &amp; Reflection</a:t>
            </a:r>
            <a:endParaRPr/>
          </a:p>
        </p:txBody>
      </p:sp>
      <p:sp>
        <p:nvSpPr>
          <p:cNvPr id="326" name="Google Shape;326;p10"/>
          <p:cNvSpPr txBox="1"/>
          <p:nvPr>
            <p:ph idx="1" type="body"/>
          </p:nvPr>
        </p:nvSpPr>
        <p:spPr>
          <a:xfrm>
            <a:off x="684450" y="1806875"/>
            <a:ext cx="7293000" cy="10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-318642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DC"/>
              </a:buClr>
              <a:buSzPct val="100000"/>
              <a:buChar char="•"/>
            </a:pPr>
            <a:r>
              <a:rPr lang="en-US" sz="1700"/>
              <a:t>• Used GitHub Projects for Kanban-based tracking.</a:t>
            </a:r>
            <a:endParaRPr/>
          </a:p>
          <a:p>
            <a:pPr indent="-318642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700"/>
              <a:t>• Regular reflection &amp; problem-solving logged.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700"/>
          </a:p>
          <a:p>
            <a:pPr indent="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ct val="72580"/>
              <a:buNone/>
            </a:pPr>
            <a:r>
              <a:t/>
            </a:r>
            <a:endParaRPr/>
          </a:p>
        </p:txBody>
      </p:sp>
      <p:pic>
        <p:nvPicPr>
          <p:cNvPr id="327" name="Google Shape;3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700" y="3050125"/>
            <a:ext cx="7878848" cy="25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372"/>
                </a:srgbClr>
              </a:gs>
              <a:gs pos="100000">
                <a:srgbClr val="244061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 txBox="1"/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Reflection &amp; Learning</a:t>
            </a:r>
            <a:endParaRPr/>
          </a:p>
        </p:txBody>
      </p:sp>
      <p:sp>
        <p:nvSpPr>
          <p:cNvPr id="339" name="Google Shape;339;p11"/>
          <p:cNvSpPr txBox="1"/>
          <p:nvPr>
            <p:ph idx="1" type="body"/>
          </p:nvPr>
        </p:nvSpPr>
        <p:spPr>
          <a:xfrm>
            <a:off x="1028699" y="2318197"/>
            <a:ext cx="7293023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DC"/>
              </a:buClr>
              <a:buSzPts val="1700"/>
              <a:buChar char="•"/>
            </a:pPr>
            <a:r>
              <a:rPr lang="en-US" sz="1700"/>
              <a:t>• Strengthened Python,  Jupyter Notebook (Numpy, Pandas, Matplotlib, Seaborn)and visualization skills.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• Gained experience with predictive analytics.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• Overcame challenges merging large datasets.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• Developed professional documentation and presentation workflow.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366092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 flipH="1" rot="10800000">
            <a:off x="-2" y="0"/>
            <a:ext cx="6086479" cy="1590742"/>
          </a:xfrm>
          <a:prstGeom prst="rect">
            <a:avLst/>
          </a:prstGeom>
          <a:gradFill>
            <a:gsLst>
              <a:gs pos="0">
                <a:srgbClr val="4F81BD">
                  <a:alpha val="0"/>
                </a:srgbClr>
              </a:gs>
              <a:gs pos="20000">
                <a:srgbClr val="4F81BD">
                  <a:alpha val="0"/>
                </a:srgbClr>
              </a:gs>
              <a:gs pos="100000">
                <a:srgbClr val="244061">
                  <a:alpha val="54509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rgbClr val="4F81BD">
                  <a:alpha val="65490"/>
                </a:srgbClr>
              </a:gs>
              <a:gs pos="100000">
                <a:srgbClr val="000000">
                  <a:alpha val="29411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244061">
                  <a:alpha val="51372"/>
                </a:srgbClr>
              </a:gs>
              <a:gs pos="100000">
                <a:srgbClr val="244061">
                  <a:alpha val="51372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 txBox="1"/>
          <p:nvPr>
            <p:ph type="title"/>
          </p:nvPr>
        </p:nvSpPr>
        <p:spPr>
          <a:xfrm>
            <a:off x="1028699" y="294538"/>
            <a:ext cx="7421963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lang="en-US" sz="3500">
                <a:solidFill>
                  <a:srgbClr val="FFFFFF"/>
                </a:solidFill>
              </a:rPr>
              <a:t>Conclusion &amp; Q&amp;A</a:t>
            </a:r>
            <a:endParaRPr/>
          </a:p>
        </p:txBody>
      </p:sp>
      <p:sp>
        <p:nvSpPr>
          <p:cNvPr id="351" name="Google Shape;351;p12"/>
          <p:cNvSpPr txBox="1"/>
          <p:nvPr>
            <p:ph idx="1" type="body"/>
          </p:nvPr>
        </p:nvSpPr>
        <p:spPr>
          <a:xfrm>
            <a:off x="1028699" y="2318197"/>
            <a:ext cx="7293023" cy="3683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DC"/>
              </a:buClr>
              <a:buSzPts val="1700"/>
              <a:buChar char="•"/>
            </a:pPr>
            <a:r>
              <a:rPr lang="en-US" sz="1700"/>
              <a:t>This project demonstrates an end-to-end E-commerce analytics workflow.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It provided actionable insights to optimize marketing, improve retention, and predict purchase behavior.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34290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